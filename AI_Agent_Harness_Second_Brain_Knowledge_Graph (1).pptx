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AI Agent Harness + Second Brain</a:t>
            </a:r>
          </a:p>
          <a:p>
            <a:pPr>
              <a:spcBef>
                <a:spcPts val="1000"/>
              </a:spcBef>
              <a:defRPr sz="1900">
                <a:solidFill>
                  <a:srgbClr val="C9D7F1"/>
                </a:solidFill>
                <a:latin typeface="Aptos"/>
              </a:defRPr>
            </a:pPr>
            <a:r>
              <a:t>How persistent engineering context turns AI-assisted coding into a repeatable delivery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063240"/>
            <a:ext cx="3383280" cy="1234440"/>
          </a:xfrm>
          <a:prstGeom prst="roundRect">
            <a:avLst/>
          </a:prstGeom>
          <a:solidFill>
            <a:srgbClr val="1F2F4E"/>
          </a:solidFill>
          <a:ln w="12700">
            <a:solidFill>
              <a:srgbClr val="3E5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35BED2"/>
                </a:solidFill>
                <a:latin typeface="Aptos"/>
              </a:defRPr>
            </a:pPr>
            <a:r>
              <a:t>Harness</a:t>
            </a:r>
          </a:p>
          <a:p>
            <a:pPr>
              <a:spcBef>
                <a:spcPts val="500"/>
              </a:spcBef>
              <a:defRPr sz="1050">
                <a:solidFill>
                  <a:srgbClr val="FFFFFF"/>
                </a:solidFill>
                <a:latin typeface="Aptos"/>
              </a:defRPr>
            </a:pPr>
            <a:r>
              <a:t>Instructions • tools • guardrails •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07408" y="3063240"/>
            <a:ext cx="3383280" cy="1234440"/>
          </a:xfrm>
          <a:prstGeom prst="roundRect">
            <a:avLst/>
          </a:prstGeom>
          <a:solidFill>
            <a:srgbClr val="1F2F4E"/>
          </a:solidFill>
          <a:ln w="12700">
            <a:solidFill>
              <a:srgbClr val="3E5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2F9E73"/>
                </a:solidFill>
                <a:latin typeface="Aptos"/>
              </a:defRPr>
            </a:pPr>
            <a:r>
              <a:t>Second Brain</a:t>
            </a:r>
          </a:p>
          <a:p>
            <a:pPr>
              <a:spcBef>
                <a:spcPts val="500"/>
              </a:spcBef>
              <a:defRPr sz="1050">
                <a:solidFill>
                  <a:srgbClr val="FFFFFF"/>
                </a:solidFill>
                <a:latin typeface="Aptos"/>
              </a:defRPr>
            </a:pPr>
            <a:r>
              <a:t>Persistent architecture • domain • decisions • lessons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37575" y="3063240"/>
            <a:ext cx="3383280" cy="1234440"/>
          </a:xfrm>
          <a:prstGeom prst="roundRect">
            <a:avLst/>
          </a:prstGeom>
          <a:solidFill>
            <a:srgbClr val="1F2F4E"/>
          </a:solidFill>
          <a:ln w="12700">
            <a:solidFill>
              <a:srgbClr val="3E5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EE913C"/>
                </a:solidFill>
                <a:latin typeface="Aptos"/>
              </a:defRPr>
            </a:pPr>
            <a:r>
              <a:t>Knowledge Graph</a:t>
            </a:r>
          </a:p>
          <a:p>
            <a:pPr>
              <a:spcBef>
                <a:spcPts val="500"/>
              </a:spcBef>
              <a:defRPr sz="1050">
                <a:solidFill>
                  <a:srgbClr val="FFFFFF"/>
                </a:solidFill>
                <a:latin typeface="Aptos"/>
              </a:defRPr>
            </a:pPr>
            <a:r>
              <a:t>Relationship-aware retrieval for compact, task-specific prompts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60520" y="3685032"/>
            <a:ext cx="246888" cy="0"/>
          </a:xfrm>
          <a:prstGeom prst="line">
            <a:avLst/>
          </a:prstGeom>
          <a:ln w="38100">
            <a:solidFill>
              <a:srgbClr val="35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790688" y="3685032"/>
            <a:ext cx="246887" cy="0"/>
          </a:xfrm>
          <a:prstGeom prst="line">
            <a:avLst/>
          </a:prstGeom>
          <a:ln w="38100">
            <a:solidFill>
              <a:srgbClr val="2F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4892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Goal: less context hunting → fewer rework loops → safer changes → faster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8DC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1B31"/>
                </a:solidFill>
                <a:latin typeface="Aptos Display"/>
              </a:defRPr>
            </a:pPr>
            <a:r>
              <a:t>The problem: coding AI is powerful, but context is fragmented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297680"/>
          </a:xfrm>
          <a:prstGeom prst="roundRect">
            <a:avLst/>
          </a:prstGeom>
          <a:solidFill>
            <a:srgbClr val="FDF6F6"/>
          </a:solidFill>
          <a:ln w="12700">
            <a:solidFill>
              <a:srgbClr val="F0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D24B4B"/>
                </a:solidFill>
                <a:latin typeface="Aptos"/>
              </a:defRPr>
            </a:pPr>
            <a:r>
              <a:t>Without a harness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Every prompt starts from scratch.</a:t>
            </a:r>
            <a:br/>
            <a:br/>
            <a:r>
              <a:t>Developers repeatedly explain architecture, conventions, APIs, dependencies, test expectations and prior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417320"/>
            <a:ext cx="3246120" cy="4297680"/>
          </a:xfrm>
          <a:prstGeom prst="roundRect">
            <a:avLst/>
          </a:prstGeom>
          <a:solidFill>
            <a:srgbClr val="FAF8F1"/>
          </a:solidFill>
          <a:ln w="12700">
            <a:solidFill>
              <a:srgbClr val="ECD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EE913C"/>
                </a:solidFill>
                <a:latin typeface="Aptos"/>
              </a:defRPr>
            </a:pPr>
            <a:r>
              <a:t>What the model sees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Current file + prompt + whatever context was manually attached.</a:t>
            </a:r>
            <a:br/>
            <a:br/>
            <a:r>
              <a:t>Missing relationships lead to plausible code that may violate local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417320"/>
            <a:ext cx="3246120" cy="429768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D8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101B31"/>
                </a:solidFill>
                <a:latin typeface="Aptos"/>
              </a:defRPr>
            </a:pPr>
            <a:r>
              <a:t>Result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Context hunting</a:t>
            </a:r>
            <a:br/>
            <a:r>
              <a:t>Repeated explanations</a:t>
            </a:r>
            <a:br/>
            <a:r>
              <a:t>Inconsistent outputs</a:t>
            </a:r>
            <a:br/>
            <a:r>
              <a:t>More review cycles</a:t>
            </a:r>
            <a:br/>
            <a:r>
              <a:t>Knowledge lost between sessions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31920" y="3520440"/>
            <a:ext cx="548640" cy="0"/>
          </a:xfrm>
          <a:prstGeom prst="line">
            <a:avLst/>
          </a:prstGeom>
          <a:ln w="38100">
            <a:solidFill>
              <a:srgbClr val="D2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726679" y="3520440"/>
            <a:ext cx="548641" cy="0"/>
          </a:xfrm>
          <a:prstGeom prst="line">
            <a:avLst/>
          </a:prstGeom>
          <a:ln w="38100">
            <a:solidFill>
              <a:srgbClr val="EE91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B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1B31"/>
                </a:solidFill>
                <a:latin typeface="Aptos Display"/>
              </a:defRPr>
            </a:pPr>
            <a:r>
              <a:t>What an AI agent harness adds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B80"/>
                </a:solidFill>
                <a:latin typeface="Aptos"/>
              </a:defRPr>
            </a:pPr>
            <a:r>
              <a:t>A thin operating layer around the coding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783080" cy="233172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2F6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2F63E0"/>
                </a:solidFill>
                <a:latin typeface="Aptos"/>
              </a:defRPr>
            </a:pPr>
            <a:r>
              <a:t>1. Understand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Task template + acceptance criteria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31720" y="2999232"/>
            <a:ext cx="155448" cy="0"/>
          </a:xfrm>
          <a:prstGeom prst="line">
            <a:avLst/>
          </a:prstGeom>
          <a:ln w="38100">
            <a:solidFill>
              <a:srgbClr val="2F6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87168" y="1828800"/>
            <a:ext cx="1783080" cy="233172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35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35BED2"/>
                </a:solidFill>
                <a:latin typeface="Aptos"/>
              </a:defRPr>
            </a:pPr>
            <a:r>
              <a:t>2. Retrieve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Relevant service/domain context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70248" y="2999232"/>
            <a:ext cx="155448" cy="0"/>
          </a:xfrm>
          <a:prstGeom prst="line">
            <a:avLst/>
          </a:prstGeom>
          <a:ln w="38100">
            <a:solidFill>
              <a:srgbClr val="35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25696" y="1828800"/>
            <a:ext cx="1783080" cy="233172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7C5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7C5CBF"/>
                </a:solidFill>
                <a:latin typeface="Aptos"/>
              </a:defRPr>
            </a:pPr>
            <a:r>
              <a:t>3. Plan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Bounded change plan + impacted files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08776" y="2999232"/>
            <a:ext cx="155448" cy="0"/>
          </a:xfrm>
          <a:prstGeom prst="line">
            <a:avLst/>
          </a:prstGeom>
          <a:ln w="38100">
            <a:solidFill>
              <a:srgbClr val="7C5C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64224" y="1828800"/>
            <a:ext cx="1783080" cy="233172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2F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2F9E73"/>
                </a:solidFill>
                <a:latin typeface="Aptos"/>
              </a:defRPr>
            </a:pPr>
            <a:r>
              <a:t>4. Execute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Code using approved tools/patterns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47304" y="2999232"/>
            <a:ext cx="155448" cy="0"/>
          </a:xfrm>
          <a:prstGeom prst="line">
            <a:avLst/>
          </a:prstGeom>
          <a:ln w="38100">
            <a:solidFill>
              <a:srgbClr val="2F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02752" y="1828800"/>
            <a:ext cx="1783080" cy="233172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EE9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EE913C"/>
                </a:solidFill>
                <a:latin typeface="Aptos"/>
              </a:defRPr>
            </a:pPr>
            <a:r>
              <a:t>5. Validate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Build • tests • static checks • diff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085832" y="2999232"/>
            <a:ext cx="155448" cy="0"/>
          </a:xfrm>
          <a:prstGeom prst="line">
            <a:avLst/>
          </a:prstGeom>
          <a:ln w="38100">
            <a:solidFill>
              <a:srgbClr val="EE91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241280" y="1828800"/>
            <a:ext cx="1783080" cy="233172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10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101B31"/>
                </a:solidFill>
                <a:latin typeface="Aptos"/>
              </a:defRPr>
            </a:pPr>
            <a:r>
              <a:t>6. Learn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Capture decision, fix and reusable lesson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4800600"/>
            <a:ext cx="8549640" cy="86868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2F6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2F63E0"/>
                </a:solidFill>
                <a:latin typeface="Aptos"/>
              </a:defRPr>
            </a:pPr>
            <a:r>
              <a:t>Key shift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The prompt is no longer the workflow. The harness assembles the right prompt, context, tools and validation for the workflow.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B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1B31"/>
                </a:solidFill>
                <a:latin typeface="Aptos Display"/>
              </a:defRPr>
            </a:pPr>
            <a:r>
              <a:t>Why the harness accelerates AI-assisted coding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2971800" cy="16002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2F6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2F63E0"/>
                </a:solidFill>
                <a:latin typeface="Aptos"/>
              </a:defRPr>
            </a:pPr>
            <a:r>
              <a:t>Less context hunting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Architecture and service facts are retrieved automatically.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463040"/>
            <a:ext cx="2971800" cy="16002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7C5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7C5CBF"/>
                </a:solidFill>
                <a:latin typeface="Aptos"/>
              </a:defRPr>
            </a:pPr>
            <a:r>
              <a:t>Reusable prompts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Common tasks become structured, repeatable playbooks.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463040"/>
            <a:ext cx="2971800" cy="16002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2F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2F9E73"/>
                </a:solidFill>
                <a:latin typeface="Aptos"/>
              </a:defRPr>
            </a:pPr>
            <a:r>
              <a:t>Fewer rework loops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Constraints and acceptance criteria arrive before code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703320"/>
            <a:ext cx="2971800" cy="16002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EE9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EE913C"/>
                </a:solidFill>
                <a:latin typeface="Aptos"/>
              </a:defRPr>
            </a:pPr>
            <a:r>
              <a:t>Automatic conventions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Patterns, libraries, security rules and testing standards travel with the task.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3703320"/>
            <a:ext cx="2971800" cy="16002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35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35BED2"/>
                </a:solidFill>
                <a:latin typeface="Aptos"/>
              </a:defRPr>
            </a:pPr>
            <a:r>
              <a:t>Repeatable validation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Build/test/review steps are part of the agent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703320"/>
            <a:ext cx="2971800" cy="16002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10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101B31"/>
                </a:solidFill>
                <a:latin typeface="Aptos"/>
              </a:defRPr>
            </a:pPr>
            <a:r>
              <a:t>Compounding learning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Every resolved incident or design choice improves the next task.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B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The Second Brain: persistent engineering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743200" cy="4343400"/>
          </a:xfrm>
          <a:prstGeom prst="roundRect">
            <a:avLst/>
          </a:prstGeom>
          <a:solidFill>
            <a:srgbClr val="1F2F4E"/>
          </a:solidFill>
          <a:ln w="12700">
            <a:solidFill>
              <a:srgbClr val="455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2F9E73"/>
                </a:solidFill>
                <a:latin typeface="Aptos"/>
              </a:defRPr>
            </a:pPr>
            <a:r>
              <a:t>What it remembers</a:t>
            </a:r>
          </a:p>
          <a:p>
            <a:pPr>
              <a:spcBef>
                <a:spcPts val="500"/>
              </a:spcBef>
              <a:defRPr sz="1050">
                <a:solidFill>
                  <a:srgbClr val="FFFFFF"/>
                </a:solidFill>
                <a:latin typeface="Aptos"/>
              </a:defRPr>
            </a:pPr>
            <a:r>
              <a:t>• Architecture decisions &amp; constraints</a:t>
            </a:r>
            <a:br/>
            <a:r>
              <a:t>• Service maps and dependencies</a:t>
            </a:r>
            <a:br/>
            <a:r>
              <a:t>• APIs, topics, schemas and tables</a:t>
            </a:r>
            <a:br/>
            <a:r>
              <a:t>• Domain vocabulary</a:t>
            </a:r>
            <a:br/>
            <a:r>
              <a:t>• Known errors and fixes</a:t>
            </a:r>
            <a:br/>
            <a:r>
              <a:t>• Runbooks and review checklists</a:t>
            </a:r>
            <a:br/>
            <a:r>
              <a:t>• Prompt templates and coding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1417320"/>
            <a:ext cx="3657600" cy="4343400"/>
          </a:xfrm>
          <a:prstGeom prst="roundRect">
            <a:avLst/>
          </a:prstGeom>
          <a:solidFill>
            <a:srgbClr val="1F2F4E"/>
          </a:solidFill>
          <a:ln w="12700">
            <a:solidFill>
              <a:srgbClr val="455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35BED2"/>
                </a:solidFill>
                <a:latin typeface="Aptos"/>
              </a:defRPr>
            </a:pPr>
            <a:r>
              <a:t>Why it matters</a:t>
            </a:r>
          </a:p>
          <a:p>
            <a:pPr>
              <a:spcBef>
                <a:spcPts val="500"/>
              </a:spcBef>
              <a:defRPr sz="1050">
                <a:solidFill>
                  <a:srgbClr val="FFFFFF"/>
                </a:solidFill>
                <a:latin typeface="Aptos"/>
              </a:defRPr>
            </a:pPr>
            <a:r>
              <a:t>Chat history is not a reliable engineering knowledge system.</a:t>
            </a:r>
            <a:br/>
            <a:br/>
            <a:r>
              <a:t>A curated Second Brain gives durable, versionable and reusable context across sessions, developers, repositories and agents.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657600" cy="4343400"/>
          </a:xfrm>
          <a:prstGeom prst="roundRect">
            <a:avLst/>
          </a:prstGeom>
          <a:solidFill>
            <a:srgbClr val="1F2F4E"/>
          </a:solidFill>
          <a:ln w="12700">
            <a:solidFill>
              <a:srgbClr val="455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EE913C"/>
                </a:solidFill>
                <a:latin typeface="Aptos"/>
              </a:defRPr>
            </a:pPr>
            <a:r>
              <a:t>Design principle</a:t>
            </a:r>
          </a:p>
          <a:p>
            <a:pPr>
              <a:spcBef>
                <a:spcPts val="500"/>
              </a:spcBef>
              <a:defRPr sz="1050">
                <a:solidFill>
                  <a:srgbClr val="FFFFFF"/>
                </a:solidFill>
                <a:latin typeface="Aptos"/>
              </a:defRPr>
            </a:pPr>
            <a:r>
              <a:t>Store knowledge once.</a:t>
            </a:r>
            <a:br/>
            <a:r>
              <a:t>Retrieve only what the current task needs.</a:t>
            </a:r>
            <a:br/>
            <a:br/>
            <a:r>
              <a:t>Do not send the whole knowledge base to the LLM. Compile a compact context bundle for each prompt.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8D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594360" y="320040"/>
            <a:ext cx="10972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01B31"/>
                </a:solidFill>
                <a:latin typeface="Play"/>
                <a:ea typeface="Play"/>
                <a:cs typeface="Play"/>
                <a:sym typeface="Play"/>
              </a:rPr>
              <a:t>Knowledge graph = a smarter Second Brain</a:t>
            </a:r>
            <a:endParaRPr/>
          </a:p>
        </p:txBody>
      </p:sp>
      <p:sp>
        <p:nvSpPr>
          <p:cNvPr id="24" name="Google Shape;24;p1"/>
          <p:cNvSpPr txBox="1"/>
          <p:nvPr/>
        </p:nvSpPr>
        <p:spPr>
          <a:xfrm>
            <a:off x="621792" y="932688"/>
            <a:ext cx="10789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F6B80"/>
                </a:solidFill>
                <a:latin typeface="Arial"/>
                <a:ea typeface="Arial"/>
                <a:cs typeface="Arial"/>
                <a:sym typeface="Arial"/>
              </a:rPr>
              <a:t>Relationships make retrieval more useful than keyword search alone</a:t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4724260" y="2491738"/>
            <a:ext cx="2743200" cy="1097400"/>
          </a:xfrm>
          <a:prstGeom prst="roundRect">
            <a:avLst>
              <a:gd fmla="val 16667" name="adj"/>
            </a:avLst>
          </a:prstGeom>
          <a:solidFill>
            <a:srgbClr val="EBF2FF"/>
          </a:solidFill>
          <a:ln cap="flat" cmpd="sng" w="12700">
            <a:solidFill>
              <a:srgbClr val="2F63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t" bIns="45700" lIns="146300" spcFirstLastPara="1" rIns="146300" wrap="square" tIns="109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F63E0"/>
                </a:solidFill>
              </a:rPr>
              <a:t>Microservice 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C3E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914400" y="1325880"/>
            <a:ext cx="2286000" cy="96000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 cap="flat" cmpd="sng" w="12700">
            <a:solidFill>
              <a:srgbClr val="35BE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t" bIns="45700" lIns="146300" spcFirstLastPara="1" rIns="146300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5BED2"/>
                </a:solidFill>
                <a:latin typeface="Arial"/>
                <a:ea typeface="Arial"/>
                <a:cs typeface="Arial"/>
                <a:sym typeface="Arial"/>
              </a:rPr>
              <a:t>Kafka topics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C3E"/>
                </a:solidFill>
                <a:latin typeface="Arial"/>
                <a:ea typeface="Arial"/>
                <a:cs typeface="Arial"/>
                <a:sym typeface="Arial"/>
              </a:rPr>
              <a:t>publishes / consumes</a:t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9006840" y="1325880"/>
            <a:ext cx="2286000" cy="96000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 cap="flat" cmpd="sng" w="12700">
            <a:solidFill>
              <a:srgbClr val="2F9E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t" bIns="45700" lIns="146300" spcFirstLastPara="1" rIns="146300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F9E73"/>
                </a:solidFill>
                <a:latin typeface="Arial"/>
                <a:ea typeface="Arial"/>
                <a:cs typeface="Arial"/>
                <a:sym typeface="Arial"/>
              </a:rPr>
              <a:t>SQL tables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C3E"/>
                </a:solidFill>
                <a:latin typeface="Arial"/>
                <a:ea typeface="Arial"/>
                <a:cs typeface="Arial"/>
                <a:sym typeface="Arial"/>
              </a:rPr>
              <a:t>reads / writes</a:t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777240" y="4389120"/>
            <a:ext cx="2469000" cy="96000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 cap="flat" cmpd="sng" w="127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t" bIns="45700" lIns="146300" spcFirstLastPara="1" rIns="146300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5CBF"/>
                </a:solidFill>
                <a:latin typeface="Arial"/>
                <a:ea typeface="Arial"/>
                <a:cs typeface="Arial"/>
                <a:sym typeface="Arial"/>
              </a:rPr>
              <a:t>Architecture decisions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C3E"/>
                </a:solidFill>
                <a:latin typeface="Arial"/>
                <a:ea typeface="Arial"/>
                <a:cs typeface="Arial"/>
                <a:sym typeface="Arial"/>
              </a:rPr>
              <a:t>constrained by</a:t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8869680" y="4389120"/>
            <a:ext cx="2469000" cy="96000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 cap="flat" cmpd="sng" w="12700">
            <a:solidFill>
              <a:srgbClr val="D24B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t" bIns="45700" lIns="146300" spcFirstLastPara="1" rIns="146300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24B4B"/>
                </a:solidFill>
                <a:latin typeface="Arial"/>
                <a:ea typeface="Arial"/>
                <a:cs typeface="Arial"/>
                <a:sym typeface="Arial"/>
              </a:rPr>
              <a:t>Known incidents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C3E"/>
                </a:solidFill>
                <a:latin typeface="Arial"/>
                <a:ea typeface="Arial"/>
                <a:cs typeface="Arial"/>
                <a:sym typeface="Arial"/>
              </a:rPr>
              <a:t>affected by</a:t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4709160" y="5166360"/>
            <a:ext cx="2743200" cy="96000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 cap="flat" cmpd="sng" w="12700">
            <a:solidFill>
              <a:srgbClr val="EE91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t" bIns="45700" lIns="146300" spcFirstLastPara="1" rIns="146300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913C"/>
                </a:solidFill>
                <a:latin typeface="Arial"/>
                <a:ea typeface="Arial"/>
                <a:cs typeface="Arial"/>
                <a:sym typeface="Arial"/>
              </a:rPr>
              <a:t>Test &amp; security rules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C3E"/>
                </a:solidFill>
                <a:latin typeface="Arial"/>
                <a:ea typeface="Arial"/>
                <a:cs typeface="Arial"/>
                <a:sym typeface="Arial"/>
              </a:rPr>
              <a:t>validated by</a:t>
            </a:r>
            <a:endParaRPr/>
          </a:p>
        </p:txBody>
      </p:sp>
      <p:cxnSp>
        <p:nvCxnSpPr>
          <p:cNvPr id="31" name="Google Shape;31;p1"/>
          <p:cNvCxnSpPr/>
          <p:nvPr/>
        </p:nvCxnSpPr>
        <p:spPr>
          <a:xfrm>
            <a:off x="3200400" y="1810512"/>
            <a:ext cx="1508700" cy="1024200"/>
          </a:xfrm>
          <a:prstGeom prst="straightConnector1">
            <a:avLst/>
          </a:prstGeom>
          <a:noFill/>
          <a:ln cap="flat" cmpd="sng" w="25400">
            <a:solidFill>
              <a:srgbClr val="35BE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32" name="Google Shape;32;p1"/>
          <p:cNvCxnSpPr/>
          <p:nvPr/>
        </p:nvCxnSpPr>
        <p:spPr>
          <a:xfrm flipH="1">
            <a:off x="7452240" y="1810512"/>
            <a:ext cx="1554600" cy="1024200"/>
          </a:xfrm>
          <a:prstGeom prst="straightConnector1">
            <a:avLst/>
          </a:prstGeom>
          <a:noFill/>
          <a:ln cap="flat" cmpd="sng" w="25400">
            <a:solidFill>
              <a:srgbClr val="2F9E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33" name="Google Shape;33;p1"/>
          <p:cNvCxnSpPr/>
          <p:nvPr/>
        </p:nvCxnSpPr>
        <p:spPr>
          <a:xfrm flipH="1" rot="10800000">
            <a:off x="3246120" y="3337608"/>
            <a:ext cx="1463100" cy="1527000"/>
          </a:xfrm>
          <a:prstGeom prst="straightConnector1">
            <a:avLst/>
          </a:prstGeom>
          <a:noFill/>
          <a:ln cap="flat" cmpd="sng" w="254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34" name="Google Shape;34;p1"/>
          <p:cNvCxnSpPr/>
          <p:nvPr/>
        </p:nvCxnSpPr>
        <p:spPr>
          <a:xfrm rot="10800000">
            <a:off x="7452480" y="3337608"/>
            <a:ext cx="1417200" cy="1527000"/>
          </a:xfrm>
          <a:prstGeom prst="straightConnector1">
            <a:avLst/>
          </a:prstGeom>
          <a:noFill/>
          <a:ln cap="flat" cmpd="sng" w="25400">
            <a:solidFill>
              <a:srgbClr val="D24B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35" name="Google Shape;35;p1"/>
          <p:cNvCxnSpPr/>
          <p:nvPr/>
        </p:nvCxnSpPr>
        <p:spPr>
          <a:xfrm>
            <a:off x="6080760" y="3611760"/>
            <a:ext cx="0" cy="1554600"/>
          </a:xfrm>
          <a:prstGeom prst="straightConnector1">
            <a:avLst/>
          </a:prstGeom>
          <a:noFill/>
          <a:ln cap="flat" cmpd="sng" w="25400">
            <a:solidFill>
              <a:srgbClr val="EE91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36" name="Google Shape;36;p1"/>
          <p:cNvSpPr txBox="1"/>
          <p:nvPr/>
        </p:nvSpPr>
        <p:spPr>
          <a:xfrm>
            <a:off x="10881360" y="6446520"/>
            <a:ext cx="731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1B31"/>
                </a:solidFill>
                <a:latin typeface="Aptos Display"/>
              </a:defRPr>
            </a:pPr>
            <a:r>
              <a:t>How the Second Brain improves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B80"/>
                </a:solidFill>
                <a:latin typeface="Aptos"/>
              </a:defRPr>
            </a:pPr>
            <a:r>
              <a:t>Prompt quality comes from selected evidence, not prompt length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834640" cy="452628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2F6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2F63E0"/>
                </a:solidFill>
                <a:latin typeface="Aptos"/>
              </a:defRPr>
            </a:pPr>
            <a:r>
              <a:t>User asks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“Add a new harmonization rule to the trade service and update tests.”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371600"/>
            <a:ext cx="3794760" cy="4526280"/>
          </a:xfrm>
          <a:prstGeom prst="roundRect">
            <a:avLst/>
          </a:prstGeom>
          <a:solidFill>
            <a:srgbClr val="F3FAF7"/>
          </a:solidFill>
          <a:ln w="12700">
            <a:solidFill>
              <a:srgbClr val="2F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2F9E73"/>
                </a:solidFill>
                <a:latin typeface="Aptos"/>
              </a:defRPr>
            </a:pPr>
            <a:r>
              <a:t>Context compiler retrieves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Service responsibilities</a:t>
            </a:r>
            <a:br/>
            <a:r>
              <a:t>Relevant harmonization maps</a:t>
            </a:r>
            <a:br/>
            <a:r>
              <a:t>Current coding conventions</a:t>
            </a:r>
            <a:br/>
            <a:r>
              <a:t>Impacted Kafka/API contracts</a:t>
            </a:r>
            <a:br/>
            <a:r>
              <a:t>Existing tests</a:t>
            </a:r>
            <a:br/>
            <a:r>
              <a:t>Known constraints / ADRs</a:t>
            </a:r>
            <a:br/>
            <a:r>
              <a:t>Similar previous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371600"/>
            <a:ext cx="3611880" cy="4526280"/>
          </a:xfrm>
          <a:prstGeom prst="roundRect">
            <a:avLst/>
          </a:prstGeom>
          <a:solidFill>
            <a:srgbClr val="FDF8F1"/>
          </a:solidFill>
          <a:ln w="12700">
            <a:solidFill>
              <a:srgbClr val="EE9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EE913C"/>
                </a:solidFill>
                <a:latin typeface="Aptos"/>
              </a:defRPr>
            </a:pPr>
            <a:r>
              <a:t>Compiled prompt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GOAL</a:t>
            </a:r>
            <a:br/>
            <a:r>
              <a:t>SCOPE</a:t>
            </a:r>
            <a:br/>
            <a:r>
              <a:t>CONSTRAINTS</a:t>
            </a:r>
            <a:br/>
            <a:r>
              <a:t>EVIDENCE</a:t>
            </a:r>
            <a:br/>
            <a:r>
              <a:t>ACCEPTANCE CRITERIA</a:t>
            </a:r>
            <a:br/>
            <a:r>
              <a:t>OUTPUT FORMAT</a:t>
            </a:r>
            <a:br/>
            <a:r>
              <a:t>VALIDATION STEPS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74720" y="3611880"/>
            <a:ext cx="320040" cy="0"/>
          </a:xfrm>
          <a:prstGeom prst="line">
            <a:avLst/>
          </a:prstGeom>
          <a:ln w="38100">
            <a:solidFill>
              <a:srgbClr val="2F6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89520" y="3611880"/>
            <a:ext cx="320040" cy="0"/>
          </a:xfrm>
          <a:prstGeom prst="line">
            <a:avLst/>
          </a:prstGeom>
          <a:ln w="38100">
            <a:solidFill>
              <a:srgbClr val="2F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B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1B31"/>
                </a:solidFill>
                <a:latin typeface="Aptos Display"/>
              </a:defRPr>
            </a:pPr>
            <a:r>
              <a:t>Recommended architecture: Context OS for coding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10972800" cy="685800"/>
          </a:xfrm>
          <a:prstGeom prst="roundRect">
            <a:avLst/>
          </a:prstGeom>
          <a:solidFill>
            <a:srgbClr val="EFF3FA"/>
          </a:solidFill>
          <a:ln w="12700">
            <a:solidFill>
              <a:srgbClr val="D8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101B31"/>
                </a:solidFill>
                <a:latin typeface="Aptos"/>
              </a:defRPr>
            </a:pPr>
            <a:r>
              <a:t>. Sources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Git • Jira • Docs • code • telemetry • conversations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10972800" cy="731520"/>
          </a:xfrm>
          <a:prstGeom prst="roundRect">
            <a:avLst/>
          </a:prstGeom>
          <a:solidFill>
            <a:srgbClr val="EEF8F6"/>
          </a:solidFill>
          <a:ln w="12700">
            <a:solidFill>
              <a:srgbClr val="2F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2F9E73"/>
                </a:solidFill>
                <a:latin typeface="Aptos"/>
              </a:defRPr>
            </a:pPr>
            <a:r>
              <a:t>Knowledge layer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Markdown/ADRs + searchable index + knowledge 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154680"/>
            <a:ext cx="10972800" cy="73152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2F6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2F63E0"/>
                </a:solidFill>
                <a:latin typeface="Aptos"/>
              </a:defRPr>
            </a:pPr>
            <a:r>
              <a:t>Context compiler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Task classification → graph traversal → evidence ranking → prompt pruning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160520"/>
            <a:ext cx="10972800" cy="731520"/>
          </a:xfrm>
          <a:prstGeom prst="roundRect">
            <a:avLst/>
          </a:prstGeom>
          <a:solidFill>
            <a:srgbClr val="F8F4FC"/>
          </a:solidFill>
          <a:ln w="12700">
            <a:solidFill>
              <a:srgbClr val="7C5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7C5CBF"/>
                </a:solidFill>
                <a:latin typeface="Aptos"/>
              </a:defRPr>
            </a:pPr>
            <a:r>
              <a:t>Agent harness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Planner → coder → reviewer → validator → documentation/memory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5166360"/>
            <a:ext cx="10972800" cy="685800"/>
          </a:xfrm>
          <a:prstGeom prst="roundRect">
            <a:avLst/>
          </a:prstGeom>
          <a:solidFill>
            <a:srgbClr val="FDF8F1"/>
          </a:solidFill>
          <a:ln w="12700">
            <a:solidFill>
              <a:srgbClr val="EE9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EE913C"/>
                </a:solidFill>
                <a:latin typeface="Aptos"/>
              </a:defRPr>
            </a:pPr>
            <a:r>
              <a:t>Coding surfaces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IntelliJ / GitHub Copilot / CLI / CI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1920240"/>
            <a:ext cx="0" cy="182880"/>
          </a:xfrm>
          <a:prstGeom prst="line">
            <a:avLst/>
          </a:prstGeom>
          <a:ln w="25400">
            <a:solidFill>
              <a:srgbClr val="5F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2880360"/>
            <a:ext cx="0" cy="182880"/>
          </a:xfrm>
          <a:prstGeom prst="line">
            <a:avLst/>
          </a:prstGeom>
          <a:ln w="25400">
            <a:solidFill>
              <a:srgbClr val="5F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60" y="3886200"/>
            <a:ext cx="0" cy="182880"/>
          </a:xfrm>
          <a:prstGeom prst="line">
            <a:avLst/>
          </a:prstGeom>
          <a:ln w="25400">
            <a:solidFill>
              <a:srgbClr val="5F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" y="4892040"/>
            <a:ext cx="0" cy="182880"/>
          </a:xfrm>
          <a:prstGeom prst="line">
            <a:avLst/>
          </a:prstGeom>
          <a:ln w="25400">
            <a:solidFill>
              <a:srgbClr val="5F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B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1B31"/>
                </a:solidFill>
                <a:latin typeface="Aptos Display"/>
              </a:defRPr>
            </a:pPr>
            <a:r>
              <a:t>Prompt-first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B80"/>
                </a:solidFill>
                <a:latin typeface="Aptos"/>
              </a:defRPr>
            </a:pPr>
            <a:r>
              <a:t>Keep the knowledge outside ad hoc prompts; inject only what is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148840" cy="448056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10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101B31"/>
                </a:solidFill>
                <a:latin typeface="Aptos"/>
              </a:defRPr>
            </a:pPr>
            <a:r>
              <a:t>Persistent assets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AGENTS.md</a:t>
            </a:r>
            <a:br/>
            <a:r>
              <a:t>ARCHITECTURE.md</a:t>
            </a:r>
            <a:br/>
            <a:r>
              <a:t>SERVICES.md</a:t>
            </a:r>
            <a:br/>
            <a:r>
              <a:t>DOMAINS.md</a:t>
            </a:r>
            <a:br/>
            <a:r>
              <a:t>ADRs</a:t>
            </a:r>
            <a:br/>
            <a:r>
              <a:t>patterns/</a:t>
            </a:r>
            <a:br/>
            <a:r>
              <a:t>skills/</a:t>
            </a:r>
            <a:br/>
            <a:r>
              <a:t>prompts/</a:t>
            </a:r>
            <a:br/>
            <a:r>
              <a:t>incidents/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1417320"/>
            <a:ext cx="2148840" cy="448056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2F6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2F63E0"/>
                </a:solidFill>
                <a:latin typeface="Aptos"/>
              </a:defRPr>
            </a:pPr>
            <a:r>
              <a:t>Task input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Goal</a:t>
            </a:r>
            <a:br/>
            <a:r>
              <a:t>Requirement</a:t>
            </a:r>
            <a:br/>
            <a:r>
              <a:t>Target service</a:t>
            </a:r>
            <a:br/>
            <a:r>
              <a:t>Constraints</a:t>
            </a:r>
            <a:br/>
            <a:r>
              <a:t>Acceptance criteria</a:t>
            </a:r>
            <a:br/>
            <a:r>
              <a:t>Requested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1417320"/>
            <a:ext cx="2148840" cy="448056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2F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2F9E73"/>
                </a:solidFill>
                <a:latin typeface="Aptos"/>
              </a:defRPr>
            </a:pPr>
            <a:r>
              <a:t>Retrieval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Semantic search</a:t>
            </a:r>
            <a:br/>
            <a:r>
              <a:t>Graph traversal</a:t>
            </a:r>
            <a:br/>
            <a:r>
              <a:t>Recent decisions</a:t>
            </a:r>
            <a:br/>
            <a:r>
              <a:t>Similar fixes</a:t>
            </a:r>
            <a:br/>
            <a:r>
              <a:t>Dependency expansion</a:t>
            </a:r>
            <a:br/>
            <a:r>
              <a:t>Prompt pruning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417320"/>
            <a:ext cx="3566160" cy="4480560"/>
          </a:xfrm>
          <a:prstGeom prst="roundRect">
            <a:avLst/>
          </a:prstGeom>
          <a:solidFill>
            <a:srgbClr val="FDF8F1"/>
          </a:solidFill>
          <a:ln w="12700">
            <a:solidFill>
              <a:srgbClr val="EE9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EE913C"/>
                </a:solidFill>
                <a:latin typeface="Aptos"/>
              </a:defRPr>
            </a:pPr>
            <a:r>
              <a:t>Compact context bundle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Only the evidence required for this task.</a:t>
            </a:r>
            <a:br/>
            <a:br/>
            <a:r>
              <a:t>Stable prefix can be cached.</a:t>
            </a:r>
            <a:br/>
            <a:r>
              <a:t>Task-specific context stays small.</a:t>
            </a:r>
            <a:br/>
            <a:r>
              <a:t>Output becomes more consistent and idempotent.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3657600"/>
            <a:ext cx="320040" cy="0"/>
          </a:xfrm>
          <a:prstGeom prst="line">
            <a:avLst/>
          </a:prstGeom>
          <a:ln w="38100">
            <a:solidFill>
              <a:srgbClr val="5F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12080" y="3657600"/>
            <a:ext cx="320040" cy="0"/>
          </a:xfrm>
          <a:prstGeom prst="line">
            <a:avLst/>
          </a:prstGeom>
          <a:ln w="38100">
            <a:solidFill>
              <a:srgbClr val="5F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80960" y="3657600"/>
            <a:ext cx="320040" cy="0"/>
          </a:xfrm>
          <a:prstGeom prst="line">
            <a:avLst/>
          </a:prstGeom>
          <a:ln w="38100">
            <a:solidFill>
              <a:srgbClr val="5F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B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Adoption path: build the memory before adding autonomy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594360" cy="594360"/>
          </a:xfrm>
          <a:prstGeom prst="ellipse">
            <a:avLst/>
          </a:prstGeom>
          <a:solidFill>
            <a:srgbClr val="3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" y="2514600"/>
            <a:ext cx="2057400" cy="1965960"/>
          </a:xfrm>
          <a:prstGeom prst="roundRect">
            <a:avLst/>
          </a:prstGeom>
          <a:solidFill>
            <a:srgbClr val="1F2F4E"/>
          </a:solidFill>
          <a:ln w="12700">
            <a:solidFill>
              <a:srgbClr val="455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35BED2"/>
                </a:solidFill>
                <a:latin typeface="Aptos"/>
              </a:defRPr>
            </a:pPr>
            <a:r>
              <a:t>Context files</a:t>
            </a:r>
          </a:p>
          <a:p>
            <a:pPr>
              <a:spcBef>
                <a:spcPts val="500"/>
              </a:spcBef>
              <a:defRPr sz="1050">
                <a:solidFill>
                  <a:srgbClr val="FFFFFF"/>
                </a:solidFill>
                <a:latin typeface="Aptos"/>
              </a:defRPr>
            </a:pPr>
            <a:r>
              <a:t>Architecture, services, domain, standards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34440" y="1938528"/>
            <a:ext cx="1371599" cy="0"/>
          </a:xfrm>
          <a:prstGeom prst="line">
            <a:avLst/>
          </a:prstGeom>
          <a:ln w="25400">
            <a:solidFill>
              <a:srgbClr val="6478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926080" y="1645920"/>
            <a:ext cx="594360" cy="594360"/>
          </a:xfrm>
          <a:prstGeom prst="ellipse">
            <a:avLst/>
          </a:prstGeom>
          <a:solidFill>
            <a:srgbClr val="2F6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2514600"/>
            <a:ext cx="2057400" cy="1965960"/>
          </a:xfrm>
          <a:prstGeom prst="roundRect">
            <a:avLst/>
          </a:prstGeom>
          <a:solidFill>
            <a:srgbClr val="1F2F4E"/>
          </a:solidFill>
          <a:ln w="12700">
            <a:solidFill>
              <a:srgbClr val="455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2F63E0"/>
                </a:solidFill>
                <a:latin typeface="Aptos"/>
              </a:defRPr>
            </a:pPr>
            <a:r>
              <a:t>Prompt templates</a:t>
            </a:r>
          </a:p>
          <a:p>
            <a:pPr>
              <a:spcBef>
                <a:spcPts val="500"/>
              </a:spcBef>
              <a:defRPr sz="1050">
                <a:solidFill>
                  <a:srgbClr val="FFFFFF"/>
                </a:solidFill>
                <a:latin typeface="Aptos"/>
              </a:defRPr>
            </a:pPr>
            <a:r>
              <a:t>Repeatable inputs + expected outputs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20440" y="1938528"/>
            <a:ext cx="1371600" cy="0"/>
          </a:xfrm>
          <a:prstGeom prst="line">
            <a:avLst/>
          </a:prstGeom>
          <a:ln w="25400">
            <a:solidFill>
              <a:srgbClr val="6478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212080" y="1645920"/>
            <a:ext cx="594360" cy="594360"/>
          </a:xfrm>
          <a:prstGeom prst="ellipse">
            <a:avLst/>
          </a:prstGeom>
          <a:solidFill>
            <a:srgbClr val="2F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2514600"/>
            <a:ext cx="2057400" cy="1965960"/>
          </a:xfrm>
          <a:prstGeom prst="roundRect">
            <a:avLst/>
          </a:prstGeom>
          <a:solidFill>
            <a:srgbClr val="1F2F4E"/>
          </a:solidFill>
          <a:ln w="12700">
            <a:solidFill>
              <a:srgbClr val="455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2F9E73"/>
                </a:solidFill>
                <a:latin typeface="Aptos"/>
              </a:defRPr>
            </a:pPr>
            <a:r>
              <a:t>Retrieval index</a:t>
            </a:r>
          </a:p>
          <a:p>
            <a:pPr>
              <a:spcBef>
                <a:spcPts val="500"/>
              </a:spcBef>
              <a:defRPr sz="1050">
                <a:solidFill>
                  <a:srgbClr val="FFFFFF"/>
                </a:solidFill>
                <a:latin typeface="Aptos"/>
              </a:defRPr>
            </a:pPr>
            <a:r>
              <a:t>Search the right snippets automatically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06440" y="1938528"/>
            <a:ext cx="1371600" cy="0"/>
          </a:xfrm>
          <a:prstGeom prst="line">
            <a:avLst/>
          </a:prstGeom>
          <a:ln w="25400">
            <a:solidFill>
              <a:srgbClr val="6478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498079" y="1645920"/>
            <a:ext cx="594360" cy="594360"/>
          </a:xfrm>
          <a:prstGeom prst="ellipse">
            <a:avLst/>
          </a:prstGeom>
          <a:solidFill>
            <a:srgbClr val="EE9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19" y="2514600"/>
            <a:ext cx="2057400" cy="1965960"/>
          </a:xfrm>
          <a:prstGeom prst="roundRect">
            <a:avLst/>
          </a:prstGeom>
          <a:solidFill>
            <a:srgbClr val="1F2F4E"/>
          </a:solidFill>
          <a:ln w="12700">
            <a:solidFill>
              <a:srgbClr val="455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EE913C"/>
                </a:solidFill>
                <a:latin typeface="Aptos"/>
              </a:defRPr>
            </a:pPr>
            <a:r>
              <a:t>Knowledge graph</a:t>
            </a:r>
          </a:p>
          <a:p>
            <a:pPr>
              <a:spcBef>
                <a:spcPts val="500"/>
              </a:spcBef>
              <a:defRPr sz="1050">
                <a:solidFill>
                  <a:srgbClr val="FFFFFF"/>
                </a:solidFill>
                <a:latin typeface="Aptos"/>
              </a:defRPr>
            </a:pPr>
            <a:r>
              <a:t>Follow relationships and dependencies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92440" y="1938528"/>
            <a:ext cx="1371600" cy="0"/>
          </a:xfrm>
          <a:prstGeom prst="line">
            <a:avLst/>
          </a:prstGeom>
          <a:ln w="25400">
            <a:solidFill>
              <a:srgbClr val="6478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784080" y="1645920"/>
            <a:ext cx="594360" cy="594360"/>
          </a:xfrm>
          <a:prstGeom prst="ellipse">
            <a:avLst/>
          </a:prstGeom>
          <a:solidFill>
            <a:srgbClr val="7C5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19" y="2514600"/>
            <a:ext cx="2057400" cy="1965960"/>
          </a:xfrm>
          <a:prstGeom prst="roundRect">
            <a:avLst/>
          </a:prstGeom>
          <a:solidFill>
            <a:srgbClr val="1F2F4E"/>
          </a:solidFill>
          <a:ln w="12700">
            <a:solidFill>
              <a:srgbClr val="455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7C5CBF"/>
                </a:solidFill>
                <a:latin typeface="Aptos"/>
              </a:defRPr>
            </a:pPr>
            <a:r>
              <a:t>Agent workflows</a:t>
            </a:r>
          </a:p>
          <a:p>
            <a:pPr>
              <a:spcBef>
                <a:spcPts val="500"/>
              </a:spcBef>
              <a:defRPr sz="1050">
                <a:solidFill>
                  <a:srgbClr val="FFFFFF"/>
                </a:solidFill>
                <a:latin typeface="Aptos"/>
              </a:defRPr>
            </a:pPr>
            <a:r>
              <a:t>Plan → code → test → review → 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The compounding advantage: every task can leave the system with better context for the next task.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8D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1B31"/>
                </a:solidFill>
                <a:latin typeface="Aptos Display"/>
              </a:defRPr>
            </a:pPr>
            <a:r>
              <a:t>What success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B80"/>
                </a:solidFill>
                <a:latin typeface="Aptos"/>
              </a:defRPr>
            </a:pPr>
            <a:r>
              <a:t>Measure the harness as an engineering productivity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2514600" cy="150876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2F6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2F63E0"/>
                </a:solidFill>
                <a:latin typeface="Aptos"/>
              </a:defRPr>
            </a:pPr>
            <a:r>
              <a:t>Context reuse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% of tasks using retrieved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600200"/>
            <a:ext cx="2514600" cy="150876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2F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2F9E73"/>
                </a:solidFill>
                <a:latin typeface="Aptos"/>
              </a:defRPr>
            </a:pPr>
            <a:r>
              <a:t>First-pass quality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Changes accepted with minimal rework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600200"/>
            <a:ext cx="2514600" cy="150876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EE9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EE913C"/>
                </a:solidFill>
                <a:latin typeface="Aptos"/>
              </a:defRPr>
            </a:pPr>
            <a:r>
              <a:t>Cycle time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Prompt → validated change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1600200"/>
            <a:ext cx="2514600" cy="150876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7C5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7C5CBF"/>
                </a:solidFill>
                <a:latin typeface="Aptos"/>
              </a:defRPr>
            </a:pPr>
            <a:r>
              <a:t>Knowledge capture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Decisions/fixes added back to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840480"/>
            <a:ext cx="9966960" cy="1417320"/>
          </a:xfrm>
          <a:prstGeom prst="roundRect">
            <a:avLst/>
          </a:prstGeom>
          <a:solidFill>
            <a:srgbClr val="EBF2FF"/>
          </a:solidFill>
          <a:ln w="12700">
            <a:solidFill>
              <a:srgbClr val="2F6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2F63E0"/>
                </a:solidFill>
                <a:latin typeface="Aptos"/>
              </a:defRPr>
            </a:pPr>
            <a:r>
              <a:t>Core message</a:t>
            </a:r>
          </a:p>
          <a:p>
            <a:pPr>
              <a:spcBef>
                <a:spcPts val="500"/>
              </a:spcBef>
              <a:defRPr sz="1050">
                <a:solidFill>
                  <a:srgbClr val="232C3E"/>
                </a:solidFill>
                <a:latin typeface="Aptos"/>
              </a:defRPr>
            </a:pPr>
            <a:r>
              <a:t>AI-assisted coding scales when the organization stops treating each prompt as a fresh conversation and starts treating context as reusable engineering infrastructure.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B8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5BED2"/>
                </a:solidFill>
              </a:defRPr>
            </a:pPr>
            <a:r>
              <a:t>AI Agent Harness = execution discipline</a:t>
            </a:r>
          </a:p>
          <a:p>
            <a:pPr algn="ctr">
              <a:defRPr sz="3200" b="1">
                <a:solidFill>
                  <a:srgbClr val="2F9E73"/>
                </a:solidFill>
              </a:defRPr>
            </a:pPr>
            <a:r>
              <a:t>Second Brain = persistent engineering memory</a:t>
            </a:r>
          </a:p>
          <a:p>
            <a:pPr algn="ctr">
              <a:defRPr sz="3200" b="1">
                <a:solidFill>
                  <a:srgbClr val="EE913C"/>
                </a:solidFill>
              </a:defRPr>
            </a:pPr>
            <a:r>
              <a:t>Knowledge Graph = relationship-aware context retrieval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65960" y="4251960"/>
            <a:ext cx="8229600" cy="1097280"/>
          </a:xfrm>
          <a:prstGeom prst="roundRect">
            <a:avLst/>
          </a:prstGeom>
          <a:solidFill>
            <a:srgbClr val="1F2F4E"/>
          </a:solidFill>
          <a:ln w="12700">
            <a:solidFill>
              <a:srgbClr val="4B5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Together</a:t>
            </a:r>
          </a:p>
          <a:p>
            <a:pPr>
              <a:spcBef>
                <a:spcPts val="500"/>
              </a:spcBef>
              <a:defRPr sz="1050">
                <a:solidFill>
                  <a:srgbClr val="FFFFFF"/>
                </a:solidFill>
                <a:latin typeface="Aptos"/>
              </a:defRPr>
            </a:pPr>
            <a:r>
              <a:t>They transform AI coding from isolated autocomplete into a reusable, governed and continuously improving engineering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8D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